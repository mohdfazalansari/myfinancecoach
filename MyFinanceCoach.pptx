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24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5B4FE8">
              <a:alpha val="25000"/>
            </a:srgbClr>
          </a:solidFill>
          <a:ln w="12700">
            <a:solidFill>
              <a:srgbClr val="5B4FE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411480"/>
            <a:ext cx="1280160" cy="1280160"/>
          </a:xfrm>
          <a:prstGeom prst="ellipse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411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MyFinanceCoach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Expense Tracking &amp; Financial Analytics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315468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5B4FE8">
              <a:alpha val="40000"/>
            </a:srgbClr>
          </a:solidFill>
          <a:ln w="12700">
            <a:solidFill>
              <a:srgbClr val="5B4FE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154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2848" y="315468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5B4FE8">
              <a:alpha val="40000"/>
            </a:srgbClr>
          </a:solidFill>
          <a:ln w="12700">
            <a:solidFill>
              <a:srgbClr val="5B4FE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3154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15468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5B4FE8">
              <a:alpha val="40000"/>
            </a:srgbClr>
          </a:solidFill>
          <a:ln w="12700">
            <a:solidFill>
              <a:srgbClr val="5B4FE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154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68112" y="315468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5B4FE8">
              <a:alpha val="40000"/>
            </a:srgbClr>
          </a:solidFill>
          <a:ln w="12700">
            <a:solidFill>
              <a:srgbClr val="5B4FE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3154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95744" y="315468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5B4FE8">
              <a:alpha val="40000"/>
            </a:srgbClr>
          </a:solidFill>
          <a:ln w="12700">
            <a:solidFill>
              <a:srgbClr val="5B4FE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3154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Finance Intelligence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Normal Finance Apps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4747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Typical Finance Apps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what you spent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AFTER overspending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without explanation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predictions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Mutable, unreliable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914400"/>
            <a:ext cx="3840480" cy="3474720"/>
          </a:xfrm>
          <a:prstGeom prst="rect">
            <a:avLst/>
          </a:prstGeom>
          <a:solidFill>
            <a:srgbClr val="F0FFF8"/>
          </a:solidFill>
          <a:ln w="12700">
            <a:solidFill>
              <a:srgbClr val="AAEE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MyFinanceCoach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you spend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BEFORE overspending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331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Expense Predictions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154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financial ledger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4FE8"/>
                </a:solidFill>
              </a:rPr>
              <a:t>→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 Maps for your money"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92024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968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63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41448" y="82296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822960"/>
            <a:ext cx="192024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32888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24328" y="1920240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24328" y="2487168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25968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24328" y="3054096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3163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Module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08576" y="82296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822960"/>
            <a:ext cx="19202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0016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91456" y="1920240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Ledger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91456" y="2487168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5968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91456" y="3054096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3163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75704" y="82296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75704" y="822960"/>
            <a:ext cx="1920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75704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67144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58584" y="1920240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67144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58584" y="2487168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67144" y="25968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58584" y="3054096"/>
            <a:ext cx="1554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3163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OCR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EDE9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Modular Monolith — ensures data integrity, simplicity, and financial-grade 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474720" cy="246888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85800"/>
            <a:ext cx="347472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 Up Screen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31920" y="685800"/>
            <a:ext cx="4937760" cy="246888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931920" y="3200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3566160"/>
            <a:ext cx="2743200" cy="132588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1148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auth with encrypted passwords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27832" y="3566160"/>
            <a:ext cx="2743200" cy="132588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27832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364992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Expenses, Balance &amp; Transactions overview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81344" y="3566160"/>
            <a:ext cx="2743200" cy="132588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81344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💯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318504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 visible at a glance</a:t>
            </a:r>
            <a:endParaRPr lang="en-US" sz="1100" dirty="0"/>
          </a:p>
        </p:txBody>
      </p:sp>
      <p:pic>
        <p:nvPicPr>
          <p:cNvPr id="20" name="Picture 19" descr="A screenshot of a computer">
            <a:extLst>
              <a:ext uri="{FF2B5EF4-FFF2-40B4-BE49-F238E27FC236}">
                <a16:creationId xmlns:a16="http://schemas.microsoft.com/office/drawing/2014/main" id="{C07E3BBD-DFA9-0AFE-2726-AE51F8BE1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2783" y="669974"/>
            <a:ext cx="5109778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AI-Powered Categorization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85800"/>
            <a:ext cx="25603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Transaction + AI Category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17520" y="685800"/>
            <a:ext cx="256032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175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Scan Result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760720" y="685800"/>
            <a:ext cx="3108960" cy="1371600"/>
          </a:xfrm>
          <a:prstGeom prst="rect">
            <a:avLst/>
          </a:prstGeom>
          <a:solidFill>
            <a:srgbClr val="EDE9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52160" y="731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Category Prediction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852160" y="1097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"Youtube" → Predicts "Entertainment" instantly using ML Model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760720" y="2194560"/>
            <a:ext cx="3108960" cy="1371600"/>
          </a:xfrm>
          <a:prstGeom prst="rect">
            <a:avLst/>
          </a:prstGeom>
          <a:solidFill>
            <a:srgbClr val="F0FFF8"/>
          </a:solidFill>
          <a:ln w="12700">
            <a:solidFill>
              <a:srgbClr val="AAEE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5216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Smart Document Scanner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5216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bank statement PDF or receipt photo → Auto-extract 96 transactions with categories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0" y="3657600"/>
            <a:ext cx="310896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5216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&amp; Filter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85216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type, or search by description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 &amp; Spending Analysis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20640" y="685800"/>
            <a:ext cx="3749040" cy="182880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Category (Pie Chart)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2926080"/>
            <a:ext cx="1920240" cy="9601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2926080"/>
            <a:ext cx="914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₹7,000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" y="34015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Budget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41448" y="2926080"/>
            <a:ext cx="1920240" cy="9601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41448" y="2926080"/>
            <a:ext cx="9144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24328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624328" y="34015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(₹500 spent)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08576" y="2926080"/>
            <a:ext cx="1920240" cy="9601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08576" y="2926080"/>
            <a:ext cx="91440" cy="960120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91456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₹6,500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791456" y="34015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775704" y="2926080"/>
            <a:ext cx="1920240" cy="9601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75704" y="292608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58584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Cats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958584" y="34015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Categories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Proactive Alerts: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this pace, you'll exceed your food budget in 8 days." — Warns BEFORE the budget is crossed, not after.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C0F7FDC-3FA3-5F17-641F-399889B8C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685800"/>
            <a:ext cx="3749040" cy="182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7D1BDF-2655-9FBA-F710-1C580D2A6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20" y="1334132"/>
            <a:ext cx="4492876" cy="10335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Insights &amp; Expense Predictions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1828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Insights Panel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0" y="30175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Predictions (Next 30 Days)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74320" y="2148840"/>
            <a:ext cx="4114800" cy="1188720"/>
          </a:xfrm>
          <a:prstGeom prst="rect">
            <a:avLst/>
          </a:prstGeom>
          <a:solidFill>
            <a:srgbClr val="EDE9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Sample AI Insight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2514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"Expenses increased because food delivery orders rose 42% on weekends — 4 consecutive weekend orders above usual pattern."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3474720"/>
            <a:ext cx="4114800" cy="292608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3493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Moving Average Forecasting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3813048"/>
            <a:ext cx="4114800" cy="292608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3831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ML Trend Analysis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4151376"/>
            <a:ext cx="4114800" cy="292608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Category-wise Forecasts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4489704"/>
            <a:ext cx="4114800" cy="292608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507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₹57,145 predicted next 30 days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541A09-8521-9D6D-3E7D-40C33E4D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293" y="873003"/>
            <a:ext cx="4423193" cy="20812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EAFEF9F-8F30-D0E5-A19D-14D6C66E2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0269"/>
            <a:ext cx="4551098" cy="8039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 &amp; Subscription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292608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685800"/>
            <a:ext cx="4297680" cy="21031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08660"/>
            <a:ext cx="4297680" cy="29032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28346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0" y="3200400"/>
            <a:ext cx="2011680" cy="822960"/>
          </a:xfrm>
          <a:prstGeom prst="rect">
            <a:avLst/>
          </a:prstGeom>
          <a:solidFill>
            <a:srgbClr val="EDE9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₹22,046/mo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subscriptions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858000" y="3200400"/>
            <a:ext cx="2011680" cy="822960"/>
          </a:xfrm>
          <a:prstGeom prst="rect">
            <a:avLst/>
          </a:prstGeom>
          <a:solidFill>
            <a:srgbClr val="F0FFF8"/>
          </a:solidFill>
          <a:ln w="12700">
            <a:solidFill>
              <a:srgbClr val="AAEE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₹2,64,552/yr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8580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projection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4069080"/>
            <a:ext cx="8595360" cy="804672"/>
          </a:xfrm>
          <a:prstGeom prst="rect">
            <a:avLst/>
          </a:prstGeom>
          <a:solidFill>
            <a:srgbClr val="F0FFF8"/>
          </a:solidFill>
          <a:ln w="12700">
            <a:solidFill>
              <a:srgbClr val="AAEE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41148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Decision Intelligence: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reduce food by ₹2,000/month, save ₹24,000/year and reach emergency fund goal 3 months early." — No advice, just outcomes.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5A325C-BDF8-3C2B-B9DB-3124722E5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90425"/>
            <a:ext cx="4304911" cy="2098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 — Explainable Intelligence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85800"/>
            <a:ext cx="41148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68 / 100 (Before)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55 / 100 (Different User)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74320" y="3657600"/>
            <a:ext cx="1920240" cy="11887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365760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004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20%+ of income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41448" y="3657600"/>
            <a:ext cx="1920240" cy="11887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41448" y="3657600"/>
            <a:ext cx="19202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87168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Discipline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87168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less than you earn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08576" y="3657600"/>
            <a:ext cx="1920240" cy="11887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3657600"/>
            <a:ext cx="192024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54296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Consistency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54296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volatility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775704" y="3657600"/>
            <a:ext cx="1920240" cy="1188720"/>
          </a:xfrm>
          <a:prstGeom prst="rect">
            <a:avLst/>
          </a:prstGeom>
          <a:solidFill>
            <a:srgbClr val="F4F5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75704" y="3657600"/>
            <a:ext cx="19202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21424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821424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6+ months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explainable — each component tells WHY it changed, not just what the number is.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A1113F2-556D-05B8-CD11-5A9D0527F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42" y="743520"/>
            <a:ext cx="4504676" cy="2475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Features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" cy="41148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8686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&amp; Security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27432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731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14400"/>
            <a:ext cx="411480" cy="4114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0088" y="8686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Expense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1600200"/>
            <a:ext cx="27432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6002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731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14400"/>
            <a:ext cx="411480" cy="411480"/>
          </a:xfrm>
          <a:prstGeom prst="ellipse">
            <a:avLst/>
          </a:prstGeom>
          <a:solidFill>
            <a:srgbClr val="5B4FE8">
              <a:alpha val="80000"/>
            </a:srgbClr>
          </a:solidFill>
          <a:ln w="12700">
            <a:solidFill>
              <a:srgbClr val="5B4FE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84648" y="8686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Categorization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600200"/>
            <a:ext cx="274320" cy="201168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002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731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914400"/>
            <a:ext cx="411480" cy="41148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79208" y="8686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1600200"/>
            <a:ext cx="2743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6002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1488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331720"/>
            <a:ext cx="411480" cy="4114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" y="2286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 &amp; Alerts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017520"/>
            <a:ext cx="2743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0175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23160" y="21488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14600" y="2331720"/>
            <a:ext cx="411480" cy="411480"/>
          </a:xfrm>
          <a:prstGeom prst="ellipse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90088" y="2286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Predictions (ML)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14600" y="3017520"/>
            <a:ext cx="27432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30175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21488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331720"/>
            <a:ext cx="411480" cy="4114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💯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84648" y="2286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3017520"/>
            <a:ext cx="27432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0175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12280" y="21488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03720" y="2331720"/>
            <a:ext cx="411480" cy="41148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379208" y="2286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03720" y="3017520"/>
            <a:ext cx="27432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30175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35661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3749040"/>
            <a:ext cx="411480" cy="41148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95528" y="3703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Insights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4434840"/>
            <a:ext cx="27432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4348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423160" y="35661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514600" y="3749040"/>
            <a:ext cx="411480" cy="411480"/>
          </a:xfrm>
          <a:prstGeom prst="ellipse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2990088" y="3703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14600" y="4434840"/>
            <a:ext cx="274320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14600" y="44348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35661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9160" y="3749040"/>
            <a:ext cx="411480" cy="41148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0916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184648" y="3703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709160" y="4434840"/>
            <a:ext cx="27432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44348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12280" y="35661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903720" y="3749040"/>
            <a:ext cx="411480" cy="41148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0372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79208" y="3703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OCR Scanner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903720" y="4434840"/>
            <a:ext cx="2743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03720" y="44348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345643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Finance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MyFinanceCoach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overspend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overspend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 only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Explained reasons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ML-powered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Simulator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 rows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ledger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 Scanning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OCR-powered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Score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4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USP: Explainable Behavioral Intelligence — Not just tracking, but understanding and predicting.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5B4FE8">
              <a:alpha val="20000"/>
            </a:srgbClr>
          </a:solidFill>
          <a:ln w="12700">
            <a:solidFill>
              <a:srgbClr val="5B4FE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MyFinanceCoach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an expense tracker — a financial decision-support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Insights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8288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Budget Warnings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🔮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Expense Predictions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18288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1228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Decision Support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520440"/>
            <a:ext cx="6400800" cy="731520"/>
          </a:xfrm>
          <a:prstGeom prst="rect">
            <a:avLst/>
          </a:prstGeom>
          <a:solidFill>
            <a:srgbClr val="5B4FE8">
              <a:alpha val="70000"/>
            </a:srgbClr>
          </a:solidFill>
          <a:ln w="12700">
            <a:solidFill>
              <a:srgbClr val="5B4FE8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520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of it like Google Maps for your money"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Spring Boot  •  PostgreSQL  •  React  •  Python 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699</Words>
  <Application>Microsoft Office PowerPoint</Application>
  <PresentationFormat>On-screen 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MyFinanceCoach</dc:title>
  <dc:subject>PptxGenJS Presentation</dc:subject>
  <dc:creator>PptxGenJS</dc:creator>
  <cp:lastModifiedBy>Mohammad Fazal</cp:lastModifiedBy>
  <cp:revision>7</cp:revision>
  <dcterms:created xsi:type="dcterms:W3CDTF">2026-04-22T04:44:06Z</dcterms:created>
  <dcterms:modified xsi:type="dcterms:W3CDTF">2026-04-25T07:07:57Z</dcterms:modified>
</cp:coreProperties>
</file>